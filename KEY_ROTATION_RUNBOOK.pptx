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KEK / DEK 키 로테이션 절차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327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6CFE0"/>
                </a:solidFill>
              </a:defRPr>
            </a:pPr>
            <a:r>
              <a:t>demoApp — vault-crypto KEK-DEK Envelope Encryption (v0.0.6)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AA6C2"/>
                </a:solidFill>
              </a:defRPr>
            </a:pPr>
            <a:r>
              <a:t>2026-08-20  ·  상세 절차: KEY_ROTATION_RUNBOOK.md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4"/>
                </a:solidFill>
              </a:defRPr>
            </a:pPr>
            <a:r>
              <a:t>DEK 로테이션 vs KEK 로테이션</a:t>
            </a:r>
          </a:p>
          <a:p>
            <a:pPr>
              <a:defRPr sz="1500">
                <a:solidFill>
                  <a:srgbClr val="606670"/>
                </a:solidFill>
              </a:defRPr>
            </a:pPr>
            <a:r>
              <a:t>성격이 다른 두 작업 — 절차도 다르게 설계됨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DDD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108960" cy="502920"/>
          </a:xfrm>
          <a:prstGeom prst="roundRect">
            <a:avLst>
              <a:gd name="adj" fmla="val 12000"/>
            </a:avLst>
          </a:prstGeom>
          <a:solidFill>
            <a:srgbClr val="2B2F36"/>
          </a:solidFill>
          <a:ln w="9525">
            <a:solidFill>
              <a:srgbClr val="2B2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항목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49039" y="1325880"/>
            <a:ext cx="4023360" cy="502920"/>
          </a:xfrm>
          <a:prstGeom prst="roundRect">
            <a:avLst>
              <a:gd name="adj" fmla="val 12000"/>
            </a:avLst>
          </a:prstGeom>
          <a:solidFill>
            <a:srgbClr val="1E8A7A"/>
          </a:solidFill>
          <a:ln w="9525">
            <a:solidFill>
              <a:srgbClr val="1E8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DEK 로테이션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325880"/>
            <a:ext cx="4023360" cy="502920"/>
          </a:xfrm>
          <a:prstGeom prst="roundRect">
            <a:avLst>
              <a:gd name="adj" fmla="val 12000"/>
            </a:avLst>
          </a:prstGeom>
          <a:solidFill>
            <a:srgbClr val="2E5EAA"/>
          </a:solidFill>
          <a:ln w="9525">
            <a:solidFill>
              <a:srgbClr val="2E5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KEK 로테이션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01952"/>
            <a:ext cx="3108960" cy="914400"/>
          </a:xfrm>
          <a:prstGeom prst="roundRect">
            <a:avLst>
              <a:gd name="adj" fmla="val 12000"/>
            </a:avLst>
          </a:prstGeom>
          <a:solidFill>
            <a:srgbClr val="F5F6F8"/>
          </a:solidFill>
          <a:ln w="9525">
            <a:solidFill>
              <a:srgbClr val="F5F6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>
              <a:defRPr sz="1250" b="1">
                <a:solidFill>
                  <a:srgbClr val="1F2A44"/>
                </a:solidFill>
              </a:defRPr>
            </a:pPr>
            <a:r>
              <a:t>무엇을 바꾸나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1901952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EAF5F3"/>
          </a:solidFill>
          <a:ln w="9525">
            <a:solidFill>
              <a:srgbClr val="EAF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>
              <a:defRPr sz="1150" b="0">
                <a:solidFill>
                  <a:srgbClr val="114A40"/>
                </a:solidFill>
              </a:defRPr>
            </a:pPr>
            <a:r>
              <a:t>도메인 하나의 DEK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901952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E9F0FA"/>
          </a:solidFill>
          <a:ln w="9525">
            <a:solidFill>
              <a:srgbClr val="E9F0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>
              <a:defRPr sz="1150" b="0">
                <a:solidFill>
                  <a:srgbClr val="163A6B"/>
                </a:solidFill>
              </a:defRPr>
            </a:pPr>
            <a:r>
              <a:t>모든 도메인이 공유하는 KEK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89504"/>
            <a:ext cx="3108960" cy="914400"/>
          </a:xfrm>
          <a:prstGeom prst="roundRect">
            <a:avLst>
              <a:gd name="adj" fmla="val 12000"/>
            </a:avLst>
          </a:prstGeom>
          <a:solidFill>
            <a:srgbClr val="F5F6F8"/>
          </a:solidFill>
          <a:ln w="9525">
            <a:solidFill>
              <a:srgbClr val="F5F6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>
              <a:defRPr sz="1250" b="1">
                <a:solidFill>
                  <a:srgbClr val="1F2A44"/>
                </a:solidFill>
              </a:defRPr>
            </a:pPr>
            <a:r>
              <a:t>실제 데이터(컬럼 값)를</a:t>
            </a:r>
            <a:br/>
            <a:r>
              <a:t>건드리나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49039" y="2889504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EAF5F3"/>
          </a:solidFill>
          <a:ln w="9525">
            <a:solidFill>
              <a:srgbClr val="EAF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>
              <a:defRPr sz="1150" b="0">
                <a:solidFill>
                  <a:srgbClr val="114A40"/>
                </a:solidFill>
              </a:defRPr>
            </a:pPr>
            <a:r>
              <a:t>건드림 — 구버전 DEK로 암호화된</a:t>
            </a:r>
            <a:br/>
            <a:r>
              <a:t>모든 행을 재암호화해야 완료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2889504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E9F0FA"/>
          </a:solidFill>
          <a:ln w="9525">
            <a:solidFill>
              <a:srgbClr val="E9F0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>
              <a:defRPr sz="1150" b="0">
                <a:solidFill>
                  <a:srgbClr val="163A6B"/>
                </a:solidFill>
              </a:defRPr>
            </a:pPr>
            <a:r>
              <a:t>안 건드림 — wrapped DEK</a:t>
            </a:r>
            <a:br/>
            <a:r>
              <a:t>몇 개만 재wrap하면 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77056"/>
            <a:ext cx="3108960" cy="914400"/>
          </a:xfrm>
          <a:prstGeom prst="roundRect">
            <a:avLst>
              <a:gd name="adj" fmla="val 12000"/>
            </a:avLst>
          </a:prstGeom>
          <a:solidFill>
            <a:srgbClr val="F5F6F8"/>
          </a:solidFill>
          <a:ln w="9525">
            <a:solidFill>
              <a:srgbClr val="F5F6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>
              <a:defRPr sz="1250" b="1">
                <a:solidFill>
                  <a:srgbClr val="1F2A44"/>
                </a:solidFill>
              </a:defRPr>
            </a:pPr>
            <a:r>
              <a:t>소요 시간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49039" y="3877056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EAF5F3"/>
          </a:solidFill>
          <a:ln w="9525">
            <a:solidFill>
              <a:srgbClr val="EAF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>
              <a:defRPr sz="1150" b="0">
                <a:solidFill>
                  <a:srgbClr val="114A40"/>
                </a:solidFill>
              </a:defRPr>
            </a:pPr>
            <a:r>
              <a:t>데이터 건수에 비례</a:t>
            </a:r>
            <a:br/>
            <a:r>
              <a:t>(점진적 배치 가능)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3877056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E9F0FA"/>
          </a:solidFill>
          <a:ln w="9525">
            <a:solidFill>
              <a:srgbClr val="E9F0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>
              <a:defRPr sz="1150" b="0">
                <a:solidFill>
                  <a:srgbClr val="163A6B"/>
                </a:solidFill>
              </a:defRPr>
            </a:pPr>
            <a:r>
              <a:t>도메인 수에 비례</a:t>
            </a:r>
            <a:br/>
            <a:r>
              <a:t>(한 번에 끝내는 게 원칙)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864608"/>
            <a:ext cx="3108960" cy="914400"/>
          </a:xfrm>
          <a:prstGeom prst="roundRect">
            <a:avLst>
              <a:gd name="adj" fmla="val 12000"/>
            </a:avLst>
          </a:prstGeom>
          <a:solidFill>
            <a:srgbClr val="F5F6F8"/>
          </a:solidFill>
          <a:ln w="9525">
            <a:solidFill>
              <a:srgbClr val="F5F6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>
              <a:defRPr sz="1250" b="1">
                <a:solidFill>
                  <a:srgbClr val="1F2A44"/>
                </a:solidFill>
              </a:defRPr>
            </a:pPr>
            <a:r>
              <a:t>옛 버전 유지 기간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49039" y="4864608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EAF5F3"/>
          </a:solidFill>
          <a:ln w="9525">
            <a:solidFill>
              <a:srgbClr val="EAF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>
              <a:defRPr sz="1150" b="0">
                <a:solidFill>
                  <a:srgbClr val="114A40"/>
                </a:solidFill>
              </a:defRPr>
            </a:pPr>
            <a:r>
              <a:t>재암호화가 끝날 때까지</a:t>
            </a:r>
            <a:br/>
            <a:r>
              <a:t>(길 수 있음)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4864608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E9F0FA"/>
          </a:solidFill>
          <a:ln w="9525">
            <a:solidFill>
              <a:srgbClr val="E9F0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>
              <a:defRPr sz="1150" b="0">
                <a:solidFill>
                  <a:srgbClr val="163A6B"/>
                </a:solidFill>
              </a:defRPr>
            </a:pPr>
            <a:r>
              <a:t>재wrap이 끝날 때까지만</a:t>
            </a:r>
            <a:br/>
            <a:r>
              <a:t>(짧게)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852160"/>
            <a:ext cx="3108960" cy="914400"/>
          </a:xfrm>
          <a:prstGeom prst="roundRect">
            <a:avLst>
              <a:gd name="adj" fmla="val 12000"/>
            </a:avLst>
          </a:prstGeom>
          <a:solidFill>
            <a:srgbClr val="F5F6F8"/>
          </a:solidFill>
          <a:ln w="9525">
            <a:solidFill>
              <a:srgbClr val="F5F6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>
              <a:defRPr sz="1250" b="1">
                <a:solidFill>
                  <a:srgbClr val="1F2A44"/>
                </a:solidFill>
              </a:defRPr>
            </a:pPr>
            <a:r>
              <a:t>블라스트 반경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49039" y="5852160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EAF5F3"/>
          </a:solidFill>
          <a:ln w="9525">
            <a:solidFill>
              <a:srgbClr val="EAF5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>
              <a:defRPr sz="1150" b="0">
                <a:solidFill>
                  <a:srgbClr val="114A40"/>
                </a:solidFill>
              </a:defRPr>
            </a:pPr>
            <a:r>
              <a:t>그 도메인만 영향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5852160"/>
            <a:ext cx="4023360" cy="914400"/>
          </a:xfrm>
          <a:prstGeom prst="roundRect">
            <a:avLst>
              <a:gd name="adj" fmla="val 12000"/>
            </a:avLst>
          </a:prstGeom>
          <a:solidFill>
            <a:srgbClr val="E9F0FA"/>
          </a:solidFill>
          <a:ln w="9525">
            <a:solidFill>
              <a:srgbClr val="E9F0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>
              <a:defRPr sz="1150" b="0">
                <a:solidFill>
                  <a:srgbClr val="163A6B"/>
                </a:solidFill>
              </a:defRPr>
            </a:pPr>
            <a:r>
              <a:t>모든 도메인 영향 — 절차 위반 시</a:t>
            </a:r>
            <a:br/>
            <a:r>
              <a:t>전체 장애 위험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A9FA6"/>
                </a:solidFill>
              </a:defRPr>
            </a:pPr>
            <a:r>
              <a:t>두 방식 모두 버전 헤더가 암호문/wrapped 바이트에 내장되어 있어(self-describing) 별도 매핑 테이블이 필요 없음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4"/>
                </a:solidFill>
              </a:defRPr>
            </a:pPr>
            <a:r>
              <a:t>DEK 로테이션 절차</a:t>
            </a:r>
          </a:p>
          <a:p>
            <a:pPr>
              <a:defRPr sz="1500">
                <a:solidFill>
                  <a:srgbClr val="606670"/>
                </a:solidFill>
              </a:defRPr>
            </a:pPr>
            <a:r>
              <a:t>도메인 하나의 DEK를 교체 — 실제 데이터 재암호화가 필요한 절차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DDD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706727" y="1417320"/>
            <a:ext cx="8778240" cy="512064"/>
          </a:xfrm>
          <a:prstGeom prst="roundRect">
            <a:avLst>
              <a:gd name="adj" fmla="val 12000"/>
            </a:avLst>
          </a:prstGeom>
          <a:solidFill>
            <a:srgbClr val="2E5EAA"/>
          </a:solidFill>
          <a:ln w="9525">
            <a:solidFill>
              <a:srgbClr val="2E5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1.  DekRotationSupport.rotate(domain) 트리거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95847.5" y="1929384"/>
            <a:ext cx="0.0" cy="91440"/>
          </a:xfrm>
          <a:prstGeom prst="line">
            <a:avLst/>
          </a:prstGeom>
          <a:ln w="22225">
            <a:solidFill>
              <a:srgbClr val="9A9F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706727" y="2020824"/>
            <a:ext cx="8778240" cy="512064"/>
          </a:xfrm>
          <a:prstGeom prst="roundRect">
            <a:avLst>
              <a:gd name="adj" fmla="val 12000"/>
            </a:avLst>
          </a:prstGeom>
          <a:solidFill>
            <a:srgbClr val="1E8A7A"/>
          </a:solidFill>
          <a:ln w="9525">
            <a:solidFill>
              <a:srgbClr val="1E8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2.  새 DEK 생성 → 현재 KEK로 wrap → dek-v{n+1} 저장 (구버전 유지)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5847.5" y="2532888"/>
            <a:ext cx="0.0" cy="91440"/>
          </a:xfrm>
          <a:prstGeom prst="line">
            <a:avLst/>
          </a:prstGeom>
          <a:ln w="22225">
            <a:solidFill>
              <a:srgbClr val="9A9F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706727" y="2624328"/>
            <a:ext cx="8778240" cy="512064"/>
          </a:xfrm>
          <a:prstGeom prst="roundRect">
            <a:avLst>
              <a:gd name="adj" fmla="val 12000"/>
            </a:avLst>
          </a:prstGeom>
          <a:solidFill>
            <a:srgbClr val="2E5EAA"/>
          </a:solidFill>
          <a:ln w="9525">
            <a:solidFill>
              <a:srgbClr val="2E5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3.  앱 재기동 / 롤링 배포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5847.5" y="3136392"/>
            <a:ext cx="0.0" cy="91440"/>
          </a:xfrm>
          <a:prstGeom prst="line">
            <a:avLst/>
          </a:prstGeom>
          <a:ln w="22225">
            <a:solidFill>
              <a:srgbClr val="9A9F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706727" y="3227832"/>
            <a:ext cx="8778240" cy="512064"/>
          </a:xfrm>
          <a:prstGeom prst="roundRect">
            <a:avLst>
              <a:gd name="adj" fmla="val 12000"/>
            </a:avLst>
          </a:prstGeom>
          <a:solidFill>
            <a:srgbClr val="1E8A7A"/>
          </a:solidFill>
          <a:ln w="9525">
            <a:solidFill>
              <a:srgbClr val="1E8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4.  DomainKeyRing이 전 버전 로드 — 신규 encrypt()는 최신 버전 사용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5847.5" y="3739896"/>
            <a:ext cx="0.0" cy="91440"/>
          </a:xfrm>
          <a:prstGeom prst="line">
            <a:avLst/>
          </a:prstGeom>
          <a:ln w="22225">
            <a:solidFill>
              <a:srgbClr val="9A9F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706727" y="3831336"/>
            <a:ext cx="8778240" cy="512064"/>
          </a:xfrm>
          <a:prstGeom prst="roundRect">
            <a:avLst>
              <a:gd name="adj" fmla="val 12000"/>
            </a:avLst>
          </a:prstGeom>
          <a:solidFill>
            <a:srgbClr val="2E5EAA"/>
          </a:solidFill>
          <a:ln w="9525">
            <a:solidFill>
              <a:srgbClr val="2E5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5.  백그라운드 재암호화 배치 실행 (구버전 → 최신 버전)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95847.5" y="4343400"/>
            <a:ext cx="0.0" cy="91440"/>
          </a:xfrm>
          <a:prstGeom prst="line">
            <a:avLst/>
          </a:prstGeom>
          <a:ln w="22225">
            <a:solidFill>
              <a:srgbClr val="9A9F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706727" y="4434840"/>
            <a:ext cx="8778240" cy="512064"/>
          </a:xfrm>
          <a:prstGeom prst="roundRect">
            <a:avLst>
              <a:gd name="adj" fmla="val 12000"/>
            </a:avLst>
          </a:prstGeom>
          <a:solidFill>
            <a:srgbClr val="C98A1E"/>
          </a:solidFill>
          <a:ln w="9525">
            <a:solidFill>
              <a:srgbClr val="C9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6.  구버전으로 암호화된 데이터 0건 확인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5847.5" y="4946904"/>
            <a:ext cx="0.0" cy="91440"/>
          </a:xfrm>
          <a:prstGeom prst="line">
            <a:avLst/>
          </a:prstGeom>
          <a:ln w="22225">
            <a:solidFill>
              <a:srgbClr val="9A9F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706727" y="5038344"/>
            <a:ext cx="8778240" cy="512064"/>
          </a:xfrm>
          <a:prstGeom prst="roundRect">
            <a:avLst>
              <a:gd name="adj" fmla="val 12000"/>
            </a:avLst>
          </a:prstGeom>
          <a:solidFill>
            <a:srgbClr val="B43A3A"/>
          </a:solidFill>
          <a:ln w="9525">
            <a:solidFill>
              <a:srgbClr val="B4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7.  DekProvider.retire(domain, oldVersion) 호출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95847.5" y="5550408"/>
            <a:ext cx="0.0" cy="91440"/>
          </a:xfrm>
          <a:prstGeom prst="line">
            <a:avLst/>
          </a:prstGeom>
          <a:ln w="22225">
            <a:solidFill>
              <a:srgbClr val="9A9F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706727" y="5641848"/>
            <a:ext cx="8778240" cy="512064"/>
          </a:xfrm>
          <a:prstGeom prst="roundRect">
            <a:avLst>
              <a:gd name="adj" fmla="val 12000"/>
            </a:avLst>
          </a:prstGeom>
          <a:solidFill>
            <a:srgbClr val="1E8A7A"/>
          </a:solidFill>
          <a:ln w="9525">
            <a:solidFill>
              <a:srgbClr val="1E8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8.  Vault에서 dek-v{n} 필드 삭제 완료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6263640"/>
            <a:ext cx="201168" cy="146304"/>
          </a:xfrm>
          <a:prstGeom prst="round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62179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A3A3A"/>
                </a:solidFill>
              </a:defRPr>
            </a:pPr>
            <a:r>
              <a:t>운영자 트리거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20440" y="6263640"/>
            <a:ext cx="201168" cy="146304"/>
          </a:xfrm>
          <a:prstGeom prst="roundRect">
            <a:avLst/>
          </a:prstGeom>
          <a:solidFill>
            <a:srgbClr val="1E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76472" y="62179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A3A3A"/>
                </a:solidFill>
              </a:defRPr>
            </a:pPr>
            <a:r>
              <a:t>App / 코드 동작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6263640"/>
            <a:ext cx="201168" cy="146304"/>
          </a:xfrm>
          <a:prstGeom prst="roundRect">
            <a:avLst/>
          </a:prstGeom>
          <a:solidFill>
            <a:srgbClr val="C9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2" y="62179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A3A3A"/>
                </a:solidFill>
              </a:defRPr>
            </a:pPr>
            <a:r>
              <a:t>확인/검증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15400" y="6263640"/>
            <a:ext cx="201168" cy="146304"/>
          </a:xfrm>
          <a:prstGeom prst="roundRect">
            <a:avLst/>
          </a:prstGeom>
          <a:solidFill>
            <a:srgbClr val="B4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71432" y="62179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A3A3A"/>
                </a:solidFill>
              </a:defRPr>
            </a:pPr>
            <a:r>
              <a:t>파괴적(비가역) 단계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A9FA6"/>
                </a:solidFill>
              </a:defRPr>
            </a:pPr>
            <a:r>
              <a:t>retire() 호출 전까지는 언제든 안전하게 중단/롤백 가능 · 상세: KEY_ROTATION_RUNBOOK.md §2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4"/>
                </a:solidFill>
              </a:defRPr>
            </a:pPr>
            <a:r>
              <a:t>KEK 로테이션 절차</a:t>
            </a:r>
          </a:p>
          <a:p>
            <a:pPr>
              <a:defRPr sz="1500">
                <a:solidFill>
                  <a:srgbClr val="606670"/>
                </a:solidFill>
              </a:defRPr>
            </a:pPr>
            <a:r>
              <a:t>모든 도메인이 공유하는 KEK를 교체 — 데이터는 안 건드리고 wrapped DEK만 재wrap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DDD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706727" y="1417320"/>
            <a:ext cx="8778240" cy="512064"/>
          </a:xfrm>
          <a:prstGeom prst="roundRect">
            <a:avLst>
              <a:gd name="adj" fmla="val 12000"/>
            </a:avLst>
          </a:prstGeom>
          <a:solidFill>
            <a:srgbClr val="2E5EAA"/>
          </a:solidFill>
          <a:ln w="9525">
            <a:solidFill>
              <a:srgbClr val="2E5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1.  KekRotationSupport.issueNewKekVersion() 트리거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95847.5" y="1929384"/>
            <a:ext cx="0.0" cy="91440"/>
          </a:xfrm>
          <a:prstGeom prst="line">
            <a:avLst/>
          </a:prstGeom>
          <a:ln w="22225">
            <a:solidFill>
              <a:srgbClr val="9A9F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1706727" y="2020824"/>
            <a:ext cx="8778240" cy="512064"/>
          </a:xfrm>
          <a:prstGeom prst="roundRect">
            <a:avLst>
              <a:gd name="adj" fmla="val 12000"/>
            </a:avLst>
          </a:prstGeom>
          <a:solidFill>
            <a:srgbClr val="1E8A7A"/>
          </a:solidFill>
          <a:ln w="9525">
            <a:solidFill>
              <a:srgbClr val="1E8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2.  새 KEK 생성 → kek-v{m+1} 저장 (구버전 kek-v{m} 반드시 유지)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95847.5" y="2532888"/>
            <a:ext cx="0.0" cy="91440"/>
          </a:xfrm>
          <a:prstGeom prst="line">
            <a:avLst/>
          </a:prstGeom>
          <a:ln w="22225">
            <a:solidFill>
              <a:srgbClr val="9A9F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1706727" y="2624328"/>
            <a:ext cx="8778240" cy="512064"/>
          </a:xfrm>
          <a:prstGeom prst="roundRect">
            <a:avLst>
              <a:gd name="adj" fmla="val 12000"/>
            </a:avLst>
          </a:prstGeom>
          <a:solidFill>
            <a:srgbClr val="2E5EAA"/>
          </a:solidFill>
          <a:ln w="9525">
            <a:solidFill>
              <a:srgbClr val="2E5E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3.  KekService.load() 재구성 / 앱 재기동 — 옛+새 버전 모두 로드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5847.5" y="3136392"/>
            <a:ext cx="0.0" cy="91440"/>
          </a:xfrm>
          <a:prstGeom prst="line">
            <a:avLst/>
          </a:prstGeom>
          <a:ln w="22225">
            <a:solidFill>
              <a:srgbClr val="9A9F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706727" y="3227832"/>
            <a:ext cx="8778240" cy="512064"/>
          </a:xfrm>
          <a:prstGeom prst="roundRect">
            <a:avLst>
              <a:gd name="adj" fmla="val 12000"/>
            </a:avLst>
          </a:prstGeom>
          <a:solidFill>
            <a:srgbClr val="1E8A7A"/>
          </a:solidFill>
          <a:ln w="9525">
            <a:solidFill>
              <a:srgbClr val="1E8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4.  도메인마다 rewrapDomainDeks() 실행 — 모든 DEK를 새 KEK로 재wrap (데이터는 무변화)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5847.5" y="3739896"/>
            <a:ext cx="0.0" cy="91440"/>
          </a:xfrm>
          <a:prstGeom prst="line">
            <a:avLst/>
          </a:prstGeom>
          <a:ln w="22225">
            <a:solidFill>
              <a:srgbClr val="9A9F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706727" y="3831336"/>
            <a:ext cx="8778240" cy="512064"/>
          </a:xfrm>
          <a:prstGeom prst="roundRect">
            <a:avLst>
              <a:gd name="adj" fmla="val 12000"/>
            </a:avLst>
          </a:prstGeom>
          <a:solidFill>
            <a:srgbClr val="C98A1E"/>
          </a:solidFill>
          <a:ln w="9525">
            <a:solidFill>
              <a:srgbClr val="C9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5.  재wrap 결과 검증 (샘플 encrypt/decrypt 라운드트립)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95847.5" y="4343400"/>
            <a:ext cx="0.0" cy="91440"/>
          </a:xfrm>
          <a:prstGeom prst="line">
            <a:avLst/>
          </a:prstGeom>
          <a:ln w="22225">
            <a:solidFill>
              <a:srgbClr val="9A9F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706727" y="4434840"/>
            <a:ext cx="8778240" cy="512064"/>
          </a:xfrm>
          <a:prstGeom prst="roundRect">
            <a:avLst>
              <a:gd name="adj" fmla="val 12000"/>
            </a:avLst>
          </a:prstGeom>
          <a:solidFill>
            <a:srgbClr val="C98A1E"/>
          </a:solidFill>
          <a:ln w="9525">
            <a:solidFill>
              <a:srgbClr val="C9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6.  모든 앱 인스턴스가 신규 KekService로 재기동됐는지 확인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95847.5" y="4946904"/>
            <a:ext cx="0.0" cy="91440"/>
          </a:xfrm>
          <a:prstGeom prst="line">
            <a:avLst/>
          </a:prstGeom>
          <a:ln w="22225">
            <a:solidFill>
              <a:srgbClr val="9A9F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706727" y="5038344"/>
            <a:ext cx="8778240" cy="512064"/>
          </a:xfrm>
          <a:prstGeom prst="roundRect">
            <a:avLst>
              <a:gd name="adj" fmla="val 12000"/>
            </a:avLst>
          </a:prstGeom>
          <a:solidFill>
            <a:srgbClr val="B43A3A"/>
          </a:solidFill>
          <a:ln w="9525">
            <a:solidFill>
              <a:srgbClr val="B4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7.  KekProvider.retire(oldVersion) 호출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95847.5" y="5550408"/>
            <a:ext cx="0.0" cy="91440"/>
          </a:xfrm>
          <a:prstGeom prst="line">
            <a:avLst/>
          </a:prstGeom>
          <a:ln w="22225">
            <a:solidFill>
              <a:srgbClr val="9A9FA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1706727" y="5641848"/>
            <a:ext cx="8778240" cy="512064"/>
          </a:xfrm>
          <a:prstGeom prst="roundRect">
            <a:avLst>
              <a:gd name="adj" fmla="val 12000"/>
            </a:avLst>
          </a:prstGeom>
          <a:solidFill>
            <a:srgbClr val="1E8A7A"/>
          </a:solidFill>
          <a:ln w="9525">
            <a:solidFill>
              <a:srgbClr val="1E8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8.  Vault에서 kek-v{m} 필드 삭제 완료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6263640"/>
            <a:ext cx="201168" cy="146304"/>
          </a:xfrm>
          <a:prstGeom prst="roundRect">
            <a:avLst/>
          </a:prstGeom>
          <a:solidFill>
            <a:srgbClr val="2E5E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62179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A3A3A"/>
                </a:solidFill>
              </a:defRPr>
            </a:pPr>
            <a:r>
              <a:t>운영자 트리거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20440" y="6263640"/>
            <a:ext cx="201168" cy="146304"/>
          </a:xfrm>
          <a:prstGeom prst="roundRect">
            <a:avLst/>
          </a:prstGeom>
          <a:solidFill>
            <a:srgbClr val="1E8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76472" y="62179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A3A3A"/>
                </a:solidFill>
              </a:defRPr>
            </a:pPr>
            <a:r>
              <a:t>App / 코드 동작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6263640"/>
            <a:ext cx="201168" cy="146304"/>
          </a:xfrm>
          <a:prstGeom prst="roundRect">
            <a:avLst/>
          </a:prstGeom>
          <a:solidFill>
            <a:srgbClr val="C9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3952" y="62179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A3A3A"/>
                </a:solidFill>
              </a:defRPr>
            </a:pPr>
            <a:r>
              <a:t>확인/검증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15400" y="6263640"/>
            <a:ext cx="201168" cy="146304"/>
          </a:xfrm>
          <a:prstGeom prst="roundRect">
            <a:avLst/>
          </a:prstGeom>
          <a:solidFill>
            <a:srgbClr val="B4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71432" y="6217920"/>
            <a:ext cx="2377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3A3A3A"/>
                </a:solidFill>
              </a:defRPr>
            </a:pPr>
            <a:r>
              <a:t>파괴적(비가역) 단계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A9FA6"/>
                </a:solidFill>
              </a:defRPr>
            </a:pPr>
            <a:r>
              <a:t>도메인을 하나라도 빠뜨리면 그 도메인만 옛 KEK에 의존한 채 남음 · 상세: KEY_ROTATION_RUNBOOK.md §3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4"/>
                </a:solidFill>
              </a:defRPr>
            </a:pPr>
            <a:r>
              <a:t>롤백 시나리오 · 로테이션 트리거 조건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64240" cy="27940"/>
          </a:xfrm>
          <a:prstGeom prst="rect">
            <a:avLst/>
          </a:prstGeom>
          <a:solidFill>
            <a:srgbClr val="DDDF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롤백 시나리오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5440680" cy="105156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1E8A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/>
          <a:lstStyle/>
          <a:p>
            <a:pPr algn="ctr">
              <a:defRPr b="1" sz="1300">
                <a:solidFill>
                  <a:srgbClr val="1F2A44"/>
                </a:solidFill>
              </a:defRPr>
            </a:pPr>
            <a:r>
              <a:t>신규 버전 발급 직후, 재wrap 전</a:t>
            </a:r>
          </a:p>
          <a:p>
            <a:pPr>
              <a:defRPr sz="1100">
                <a:solidFill>
                  <a:srgbClr val="3A3A3A"/>
                </a:solidFill>
              </a:defRPr>
            </a:pPr>
            <a:r>
              <a:t>새로 만든 kek-v/dek-v 필드를 지우고 current-version을 되돌리면 됨 — 아무 데이터도 아직 의존하지 않음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108960"/>
            <a:ext cx="5440680" cy="105156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C9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/>
          <a:lstStyle/>
          <a:p>
            <a:pPr algn="ctr">
              <a:defRPr b="1" sz="1300">
                <a:solidFill>
                  <a:srgbClr val="1F2A44"/>
                </a:solidFill>
              </a:defRPr>
            </a:pPr>
            <a:r>
              <a:t>KEK 재wrap 도중 일부만 완료</a:t>
            </a:r>
          </a:p>
          <a:p>
            <a:pPr>
              <a:defRPr sz="1100">
                <a:solidFill>
                  <a:srgbClr val="3A3A3A"/>
                </a:solidFill>
              </a:defRPr>
            </a:pPr>
            <a:r>
              <a:t>문제없음 — 옛 KEK가 살아있어 나머지 도메인도 정상 동작. 이어서 재wrap하면 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97680"/>
            <a:ext cx="5440680" cy="1051560"/>
          </a:xfrm>
          <a:prstGeom prst="roundRect">
            <a:avLst/>
          </a:prstGeom>
          <a:solidFill>
            <a:srgbClr val="F5F6F8"/>
          </a:solidFill>
          <a:ln w="19050">
            <a:solidFill>
              <a:srgbClr val="B4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/>
          <a:lstStyle/>
          <a:p>
            <a:pPr algn="ctr">
              <a:defRPr b="1" sz="1300">
                <a:solidFill>
                  <a:srgbClr val="1F2A44"/>
                </a:solidFill>
              </a:defRPr>
            </a:pPr>
            <a:r>
              <a:t>retire() 이후 문제 발견</a:t>
            </a:r>
          </a:p>
          <a:p>
            <a:pPr>
              <a:defRPr sz="1100">
                <a:solidFill>
                  <a:srgbClr val="3A3A3A"/>
                </a:solidFill>
              </a:defRPr>
            </a:pPr>
            <a:r>
              <a:t>되돌릴 수 없음 — 새 버전을 다시 발급해 앞으로 나아가야 함. 그래서 retire()는 검증 후 마지막에만 호출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71600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1F2A44"/>
          </a:solidFill>
          <a:ln w="9525">
            <a:solidFill>
              <a:srgbClr val="1F2A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381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로테이션을 언제 하는가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920240"/>
            <a:ext cx="5440680" cy="777240"/>
          </a:xfrm>
          <a:prstGeom prst="roundRect">
            <a:avLst/>
          </a:prstGeom>
          <a:solidFill>
            <a:srgbClr val="E9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>
              <a:defRPr sz="1200">
                <a:solidFill>
                  <a:srgbClr val="163A6B"/>
                </a:solidFill>
              </a:defRPr>
            </a:pPr>
            <a:r>
              <a:t>정기 정책 — 예: KEK 연 1회, DEK 반기 1회 등 컴플라이언스 주기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2834640"/>
            <a:ext cx="5440680" cy="777240"/>
          </a:xfrm>
          <a:prstGeom prst="roundRect">
            <a:avLst/>
          </a:prstGeom>
          <a:solidFill>
            <a:srgbClr val="E9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>
              <a:defRPr sz="1200">
                <a:solidFill>
                  <a:srgbClr val="163A6B"/>
                </a:solidFill>
              </a:defRPr>
            </a:pPr>
            <a:r>
              <a:t>침해 의심 — Vault 토큰 유출, 서버 침해 등. 절차가 평소에 리허설되어 있어야 사고 중 안전하게 실행 가능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749040"/>
            <a:ext cx="5440680" cy="777240"/>
          </a:xfrm>
          <a:prstGeom prst="roundRect">
            <a:avLst/>
          </a:prstGeom>
          <a:solidFill>
            <a:srgbClr val="E9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>
              <a:defRPr sz="1200">
                <a:solidFill>
                  <a:srgbClr val="163A6B"/>
                </a:solidFill>
              </a:defRPr>
            </a:pPr>
            <a:r>
              <a:t>접근 권한 변경 — 키에 접근 가능했던 인원/시스템이 바뀌었을 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4663440"/>
            <a:ext cx="5440680" cy="777240"/>
          </a:xfrm>
          <a:prstGeom prst="roundRect">
            <a:avLst/>
          </a:prstGeom>
          <a:solidFill>
            <a:srgbClr val="E9F0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/>
          <a:lstStyle/>
          <a:p>
            <a:pPr algn="ctr">
              <a:defRPr sz="1200">
                <a:solidFill>
                  <a:srgbClr val="163A6B"/>
                </a:solidFill>
              </a:defRPr>
            </a:pPr>
            <a:r>
              <a:t>알고리즘/키 길이 정책 변경 — 현재 AES-256 표준, 당장 해당 없음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A9FA6"/>
                </a:solidFill>
              </a:defRPr>
            </a:pPr>
            <a:r>
              <a:t>원칙: retire()를 호출하기 전까지는 언제든 안전하게 되돌릴 수 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